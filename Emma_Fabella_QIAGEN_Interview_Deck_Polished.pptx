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7" r:id="rId18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Emma Fabella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D6EEEF"/>
                </a:solidFill>
                <a:latin typeface="Aptos"/>
              </a:defRPr>
            </a:pPr>
            <a:r>
              <a:t>Senior Full-Stack Engineer  |  Technical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42032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16 Years of Software Engineering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337560"/>
            <a:ext cx="6355080" cy="475488"/>
          </a:xfrm>
          <a:prstGeom prst="roundRect">
            <a:avLst/>
          </a:prstGeom>
          <a:solidFill>
            <a:srgbClr val="1E3948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37560"/>
            <a:ext cx="73152" cy="475488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5989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Java • Spring Boot • Angular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995928"/>
            <a:ext cx="6355080" cy="475488"/>
          </a:xfrm>
          <a:prstGeom prst="roundRect">
            <a:avLst/>
          </a:prstGeom>
          <a:solidFill>
            <a:srgbClr val="1E3948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995928"/>
            <a:ext cx="73152" cy="475488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95928"/>
            <a:ext cx="5989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Microservices • REST APIs • Azure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54296"/>
            <a:ext cx="6355080" cy="475488"/>
          </a:xfrm>
          <a:prstGeom prst="roundRect">
            <a:avLst/>
          </a:prstGeom>
          <a:solidFill>
            <a:srgbClr val="1E3948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654296"/>
            <a:ext cx="73152" cy="475488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54296"/>
            <a:ext cx="5989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Technical Leadership • Architecture •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6875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CDDDE2"/>
                </a:solidFill>
                <a:latin typeface="Aptos"/>
              </a:defRPr>
            </a:pPr>
            <a:r>
              <a:t>Enterprise platforms across banking, healthcare, insurance, telecommunications, government, and enterprise environments.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05156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  <a:br/>
            <a:r>
              <a:t>WITH</a:t>
            </a:r>
            <a:br/>
            <a:r>
              <a:t>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QIAGEN INTERVIEW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DC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CE6E8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DCE6E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My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WHAT SHAPED 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438912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438912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A3A"/>
                </a:solidFill>
                <a:latin typeface="Aptos"/>
              </a:defRPr>
            </a:pPr>
            <a:r>
              <a:t>Early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49377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F37"/>
                </a:solidFill>
                <a:latin typeface="Aptos"/>
              </a:defRPr>
            </a:pPr>
            <a:r>
              <a:t>Working student since age 16.</a:t>
            </a:r>
            <a:br/>
            <a:br/>
            <a:r>
              <a:t>Graduated with honors and received academic recognition.</a:t>
            </a:r>
            <a:br/>
            <a:br/>
            <a:r>
              <a:t>Balancing education and work built persistence, discipline, accountability, and ownership.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438912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73152" cy="438912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9903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A3A"/>
                </a:solidFill>
                <a:latin typeface="Aptos"/>
              </a:defRPr>
            </a:pPr>
            <a:r>
              <a:t>What I Carried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47088"/>
            <a:ext cx="49377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F37"/>
                </a:solidFill>
                <a:latin typeface="Aptos"/>
              </a:defRPr>
            </a:pPr>
            <a:r>
              <a:t>Bachelor of Science in Computer Science at the University of the Philippines.</a:t>
            </a:r>
            <a:br/>
            <a:br/>
            <a:r>
              <a:t>Academic work and real-world responsibilities shaped a practical approach to learning: understand the problem, take responsibility, and deliver meaningful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7044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3A"/>
                </a:solidFill>
                <a:latin typeface="Aptos"/>
              </a:defRPr>
            </a:pPr>
            <a:r>
              <a:t>Balancing work and education taught me how to keep learning while delivering in real-world conditions.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Technology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UNIVERSITY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E8C"/>
                </a:solidFill>
                <a:latin typeface="Aptos"/>
              </a:defRPr>
            </a:pPr>
            <a:r>
              <a:t>Undergraduate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Disease Pattern Mapping</a:t>
            </a:r>
            <a:br/>
            <a:r>
              <a:t>in the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6217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My undergraduate research focused on analysing disease patterns using data and technology to produce meaningful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8172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464"/>
                </a:solidFill>
                <a:latin typeface="Aptos"/>
              </a:defRPr>
            </a:pPr>
            <a:r>
              <a:t>Why it matters to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F37"/>
                </a:solidFill>
                <a:latin typeface="Aptos"/>
              </a:defRPr>
            </a:pPr>
            <a:r>
              <a:t>It introduced me to the connection between technology, data, healthcare, and improving lives through better understanding and decision-making.</a:t>
            </a:r>
          </a:p>
        </p:txBody>
      </p:sp>
      <p:sp>
        <p:nvSpPr>
          <p:cNvPr id="10" name="Oval 9"/>
          <p:cNvSpPr/>
          <p:nvPr/>
        </p:nvSpPr>
        <p:spPr>
          <a:xfrm>
            <a:off x="7498079" y="1828800"/>
            <a:ext cx="1234440" cy="1234440"/>
          </a:xfrm>
          <a:prstGeom prst="ellipse">
            <a:avLst/>
          </a:prstGeom>
          <a:solidFill>
            <a:srgbClr val="E1F2F3"/>
          </a:solidFill>
          <a:ln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26771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1508760"/>
            <a:ext cx="1234440" cy="1234440"/>
          </a:xfrm>
          <a:prstGeom prst="ellipse">
            <a:avLst/>
          </a:prstGeom>
          <a:solidFill>
            <a:srgbClr val="E7F4E9"/>
          </a:solidFill>
          <a:ln>
            <a:solidFill>
              <a:srgbClr val="4C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9476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PATTERNS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880360"/>
            <a:ext cx="1234440" cy="1234440"/>
          </a:xfrm>
          <a:prstGeom prst="ellipse">
            <a:avLst/>
          </a:prstGeom>
          <a:solidFill>
            <a:srgbClr val="E1F2F3"/>
          </a:solidFill>
          <a:ln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3192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3383280"/>
            <a:ext cx="1234440" cy="1234440"/>
          </a:xfrm>
          <a:prstGeom prst="ellipse">
            <a:avLst/>
          </a:prstGeom>
          <a:solidFill>
            <a:srgbClr val="E7F4E9"/>
          </a:solidFill>
          <a:ln>
            <a:solidFill>
              <a:srgbClr val="4C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3822191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8" name="Oval 17"/>
          <p:cNvSpPr/>
          <p:nvPr/>
        </p:nvSpPr>
        <p:spPr>
          <a:xfrm>
            <a:off x="7452360" y="4206240"/>
            <a:ext cx="1234440" cy="1234440"/>
          </a:xfrm>
          <a:prstGeom prst="ellipse">
            <a:avLst/>
          </a:prstGeom>
          <a:solidFill>
            <a:srgbClr val="E1F2F3"/>
          </a:solidFill>
          <a:ln>
            <a:solidFill>
              <a:srgbClr val="00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6451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3A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Why QIAGEN Resonates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DEFE6"/>
                </a:solidFill>
                <a:latin typeface="Aptos"/>
              </a:defRPr>
            </a:pPr>
            <a:r>
              <a:t>Making improvements in life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4983480" cy="2560320"/>
          </a:xfrm>
          <a:prstGeom prst="roundRect">
            <a:avLst/>
          </a:prstGeom>
          <a:solidFill>
            <a:srgbClr val="1D3C49"/>
          </a:solidFill>
          <a:ln>
            <a:solidFill>
              <a:srgbClr val="37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464"/>
                </a:solidFill>
                <a:latin typeface="Aptos"/>
              </a:defRPr>
            </a:pPr>
            <a:r>
              <a:t>MY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4251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Health-related information</a:t>
            </a:r>
            <a:br/>
            <a:r>
              <a:t>→ meaningful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159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DDDE2"/>
                </a:solidFill>
                <a:latin typeface="Aptos"/>
              </a:defRPr>
            </a:pPr>
            <a:r>
              <a:t>Disease pattern mapping in the Philippines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464"/>
                </a:solidFill>
                <a:latin typeface="Aptos"/>
              </a:defRPr>
            </a:pPr>
            <a:r>
              <a:t>QIAGEN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Sample to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30752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AED"/>
                </a:solidFill>
                <a:latin typeface="Aptos"/>
              </a:defRPr>
            </a:pPr>
            <a:r>
              <a:t>The connection I see is simple:</a:t>
            </a:r>
            <a:br/>
            <a:r>
              <a:t>using technology and information to support better understanding, better decisions, and meaningful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57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DEFE6"/>
                </a:solidFill>
                <a:latin typeface="Aptos"/>
              </a:defRPr>
            </a:pPr>
            <a:r>
              <a:t>Technology  •  Data  •  Healthcare  • 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DC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CE6E8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DCE6E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Alignment With QIAGEN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EMPOWER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493008" cy="425196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425196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Ownership &amp; Responsibility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31272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F37"/>
                </a:solidFill>
                <a:latin typeface="Aptos"/>
              </a:defRPr>
            </a:pPr>
            <a:r>
              <a:t>Working student since age 16. Taking responsibility for education, work, and personal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17320"/>
            <a:ext cx="3493008" cy="425196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17320"/>
            <a:ext cx="73152" cy="425196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1581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Continuous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029968"/>
            <a:ext cx="31272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F37"/>
                </a:solidFill>
                <a:latin typeface="Aptos"/>
              </a:defRPr>
            </a:pPr>
            <a:r>
              <a:t>MS Information Technology foundational coursework completed and currently pursuing a Global MBA while maintaining a professional career.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417320"/>
            <a:ext cx="3493008" cy="425196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417320"/>
            <a:ext cx="73152" cy="425196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81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29968"/>
            <a:ext cx="312724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F37"/>
                </a:solidFill>
                <a:latin typeface="Aptos"/>
              </a:defRPr>
            </a:pPr>
            <a:r>
              <a:t>Mentoring, code reviews, onboarding, knowledge sharing, and technical leadership throughout my career.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3A"/>
                </a:solidFill>
                <a:latin typeface="Aptos"/>
              </a:defRPr>
            </a:pPr>
            <a:r>
              <a:t>I try to demonstrate values through how I work, not only through what I say.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Technical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43484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3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Java</a:t>
            </a:r>
            <a:br/>
            <a:r>
              <a:t>Spring Boot</a:t>
            </a:r>
            <a:br/>
            <a:r>
              <a:t>REST APIs</a:t>
            </a:r>
            <a:br/>
            <a:r>
              <a:t>Microservices</a:t>
            </a:r>
            <a:br/>
            <a:r>
              <a:t>Hibernate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474720" cy="443484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73152" cy="443484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490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3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38528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Angular</a:t>
            </a:r>
            <a:br/>
            <a:r>
              <a:t>Vue.js</a:t>
            </a:r>
            <a:br/>
            <a:r>
              <a:t>React</a:t>
            </a:r>
            <a:br/>
            <a:r>
              <a:t>JavaScript</a:t>
            </a:r>
            <a:br/>
            <a:r>
              <a:t>HTML5 / CSS3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325880"/>
            <a:ext cx="3474720" cy="443484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7575" y="1325880"/>
            <a:ext cx="73152" cy="443484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490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A3A"/>
                </a:solidFill>
                <a:latin typeface="Aptos"/>
              </a:defRPr>
            </a:pPr>
            <a:r>
              <a:t>Cloud &amp;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938528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F37"/>
                </a:solidFill>
                <a:latin typeface="Aptos"/>
              </a:defRPr>
            </a:pPr>
            <a:r>
              <a:t>Azure</a:t>
            </a:r>
            <a:br/>
            <a:r>
              <a:t>AWS</a:t>
            </a:r>
            <a:br/>
            <a:r>
              <a:t>Docker</a:t>
            </a:r>
            <a:br/>
            <a:r>
              <a:t>Jenkins</a:t>
            </a:r>
            <a:br/>
            <a:r>
              <a:t>Kubernetes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618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66747C"/>
                </a:solidFill>
                <a:latin typeface="Aptos"/>
              </a:defRPr>
            </a:pPr>
            <a:r>
              <a:t>Experience also includes databases, testing, API security, CI/CD, code quality, and enterprise integrations.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Enterprise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78308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78308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Fujitsu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Team Leadership</a:t>
            </a:r>
            <a:br/>
            <a:r>
              <a:t>Development Standards</a:t>
            </a:r>
            <a:br/>
            <a:r>
              <a:t>Architecture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57800" cy="178308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178308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4904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National Australia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Kafka</a:t>
            </a:r>
            <a:br/>
            <a:r>
              <a:t>Spring Boot</a:t>
            </a:r>
            <a:br/>
            <a:r>
              <a:t>Banking Microservices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5257800" cy="1783080"/>
          </a:xfrm>
          <a:prstGeom prst="roundRect">
            <a:avLst/>
          </a:prstGeom>
          <a:solidFill>
            <a:srgbClr val="E1F2F3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73152" cy="178308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393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The Walt Disney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8736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Java Services</a:t>
            </a:r>
            <a:br/>
            <a:r>
              <a:t>API Integrations</a:t>
            </a:r>
            <a:br/>
            <a:r>
              <a:t>Authentication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5257800" cy="1783080"/>
          </a:xfrm>
          <a:prstGeom prst="roundRect">
            <a:avLst/>
          </a:prstGeom>
          <a:solidFill>
            <a:srgbClr val="E7F4E9"/>
          </a:solidFill>
          <a:ln>
            <a:solidFill>
              <a:srgbClr val="D3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73152" cy="1783080"/>
          </a:xfrm>
          <a:prstGeom prst="rect">
            <a:avLst/>
          </a:prstGeom>
          <a:solidFill>
            <a:srgbClr val="4C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6393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3A"/>
                </a:solidFill>
                <a:latin typeface="Aptos"/>
              </a:defRPr>
            </a:pPr>
            <a:r>
              <a:t>Healthcare &amp; 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F37"/>
                </a:solidFill>
                <a:latin typeface="Aptos"/>
              </a:defRPr>
            </a:pPr>
            <a:r>
              <a:t>AEM / Java</a:t>
            </a:r>
            <a:br/>
            <a:r>
              <a:t>Enterprise Platforms</a:t>
            </a:r>
            <a:br/>
            <a:r>
              <a:t>Business-Critical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A3A"/>
                </a:solidFill>
                <a:latin typeface="Aptos"/>
              </a:defRPr>
            </a:pPr>
            <a:r>
              <a:t>Across different industries, the common thread has been solving complex problems while working within enterprise constraints.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A3A"/>
                </a:solidFill>
                <a:latin typeface="Aptos"/>
              </a:defRPr>
            </a:pPr>
            <a:r>
              <a:t>Continuous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11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ALWAYS EVOLVING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E8C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BS Computer Science — University of the Philippines</a:t>
            </a:r>
          </a:p>
          <a:p>
            <a:pPr>
              <a:spcAft>
                <a:spcPts val="12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MS Information Technology — foundational coursework completed</a:t>
            </a:r>
          </a:p>
          <a:p>
            <a:pPr>
              <a:spcAft>
                <a:spcPts val="12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Global MBA — The University of Western Australia (ongoing,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464"/>
                </a:solidFill>
                <a:latin typeface="Aptos"/>
              </a:defRPr>
            </a:pPr>
            <a:r>
              <a:t>Professional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Harvard Business School Online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University of Tokyo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Microsoft Learning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Coursera</a:t>
            </a:r>
          </a:p>
          <a:p>
            <a:pPr>
              <a:spcAft>
                <a:spcPts val="1000"/>
              </a:spcAft>
              <a:defRPr sz="1500">
                <a:solidFill>
                  <a:srgbClr val="232F37"/>
                </a:solidFill>
                <a:latin typeface="Aptos"/>
              </a:defRPr>
            </a:pPr>
            <a:r>
              <a:t>• Pluralsight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378440" cy="1051560"/>
          </a:xfrm>
          <a:prstGeom prst="round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646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Learning keeps my technical skills current while expanding how I think about business, delivery, and leadership.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3A"/>
                </a:solidFill>
                <a:latin typeface="Aptos"/>
              </a:defRPr>
            </a:pPr>
            <a:r>
              <a:t>How I Work</a:t>
            </a:r>
          </a:p>
        </p:txBody>
      </p:sp>
      <p:sp>
        <p:nvSpPr>
          <p:cNvPr id="3b" name="TextBox 2b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WORKING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Work preferences, collaboration, and how I handle blockers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Focused Environment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work best in a quiet, focused environment where I can concentrate deeply on complex technical tasks and problem-solving.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50876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Organization &amp; Multitasking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use a structured workflow and a six-screen setup to keep the information I need readily available and stay organized across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Flexibility &amp; Collaboration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am comfortable working hybrid and can attend the office when collaboration, workshops, or team activities benefit from face-to-face interaction.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971800"/>
            <a:ext cx="5212080" cy="123444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When I Encounter a Blocker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If I cannot complete a task because of infrastructure, network, dependency, access, or integration issues, I identify the blocker, communicate it early, seek the right support, and work on an alternative or next step where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34840"/>
            <a:ext cx="10607040" cy="1143000"/>
          </a:xfrm>
          <a:prstGeom prst="roundRect">
            <a:avLst/>
          </a:prstGeom>
          <a:solidFill>
            <a:srgbClr val="F6FAFC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A3D"/>
                </a:solidFill>
                <a:latin typeface="Aptos Display"/>
              </a:defRPr>
            </a:pPr>
            <a:r>
              <a:t>Learning From Challenges</a:t>
            </a:r>
          </a:p>
          <a:p>
            <a:pPr>
              <a:spcBef>
                <a:spcPts val="600"/>
              </a:spcBef>
              <a:defRPr sz="1250">
                <a:solidFill>
                  <a:srgbClr val="232D34"/>
                </a:solidFill>
                <a:latin typeface="Aptos"/>
              </a:defRPr>
            </a:pPr>
            <a:r>
              <a:t>I treat negative situations as learning experiences—reflecting on what happened, identifying what I can improve, and using those insights to perform better moving forward.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A3A"/>
                </a:solidFill>
                <a:latin typeface="Aptos"/>
              </a:defRPr>
            </a:pPr>
            <a:r>
              <a:t>Sample Portfolio — Digital Customer Ecosystem</a:t>
            </a:r>
          </a:p>
        </p:txBody>
      </p:sp>
      <p:sp>
        <p:nvSpPr>
          <p:cNvPr id="3b" name="TextBox 2b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7E8C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2014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A working sample demonstrating architecture, application design, and a customer-facing implementation</a:t>
            </a:r>
          </a:p>
        </p:txBody>
      </p:sp>
      <p:pic>
        <p:nvPicPr>
          <p:cNvPr id="5" name="Picture 4" descr="0961cf2a-eedf-4c52-91f9-901d1835f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629400" cy="35545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17320"/>
            <a:ext cx="3794760" cy="4526280"/>
          </a:xfrm>
          <a:prstGeom prst="roundRect">
            <a:avLst/>
          </a:prstGeom>
          <a:solidFill>
            <a:srgbClr val="EFF8F6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A3D"/>
                </a:solidFill>
                <a:latin typeface="Aptos Display"/>
              </a:defRPr>
            </a:pPr>
            <a:r>
              <a:t>Digital Customer Ecosystem (DCEP)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Angular customer-facing application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Java / Spring Boot microservices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REST APIs and service boundaries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Customer, product, search, cart, order, payment and digital-service capabilities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Azure-oriented cloud and DevOps target architecture</a:t>
            </a:r>
          </a:p>
          <a:p>
            <a:pPr>
              <a:spcBef>
                <a:spcPts val="500"/>
              </a:spcBef>
              <a:defRPr sz="1150">
                <a:solidFill>
                  <a:srgbClr val="232D34"/>
                </a:solidFill>
                <a:latin typeface="Aptos"/>
              </a:defRPr>
            </a:pPr>
            <a:r>
              <a:t>• Architecture documentation covering business, application, data, technology, integration, security, DevOps and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86FB4"/>
                </a:solidFill>
                <a:latin typeface="Aptos"/>
              </a:defRPr>
            </a:pPr>
            <a:r>
              <a:t>Portfolio: github.com/emmafabella1/digital-customer-ecosystem-platform  |  Demo: 46.250.226.123:4200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6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47C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747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Why 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3063240"/>
          </a:xfrm>
          <a:prstGeom prst="roundRect">
            <a:avLst/>
          </a:prstGeom>
          <a:solidFill>
            <a:srgbClr val="1C3A47"/>
          </a:solidFill>
          <a:ln>
            <a:solidFill>
              <a:srgbClr val="37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Aptos"/>
              </a:defRPr>
            </a:pPr>
            <a:r>
              <a:t>My journey as a working student, honor student, academic awardee, Computer Science graduate, researcher, software engineer, technical leader, and lifelong learner has been guided by a simple belief:</a:t>
            </a:r>
            <a:br/>
            <a:br/>
            <a:r>
              <a:t>Technology should create meaningful value for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DEFE6"/>
                </a:solidFill>
                <a:latin typeface="Aptos"/>
              </a:defRPr>
            </a:pPr>
            <a:r>
              <a:t>That is why QIAGEN’s mission resonates with me — and why I would be excited to contribute to an organisation dedicated to making improvements in life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5897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55664"/>
            <a:ext cx="10972800" cy="10972"/>
          </a:xfrm>
          <a:prstGeom prst="rect">
            <a:avLst/>
          </a:prstGeom>
          <a:solidFill>
            <a:srgbClr val="DC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CE6E8"/>
                </a:solidFill>
                <a:latin typeface="Aptos"/>
              </a:defRPr>
            </a:pPr>
            <a:r>
              <a:t>Emma Fabella  |  QIAGEN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DCE6E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d113e3c-4d7d-4889-acee-bc6c18b31e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 Fabella — QIAGEN Interview Presentation</dc:title>
  <dc:subject>Story-driven executive interview presentation</dc:subject>
  <dc:creator>Emma Fabella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