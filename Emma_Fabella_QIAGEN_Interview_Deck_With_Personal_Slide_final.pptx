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5" r:id="rId16"/>
    <p:sldId id="266" r:id="rId17"/>
    <p:sldId id="267" r:id="rId18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12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915400" y="0"/>
            <a:ext cx="3273552" cy="6858000"/>
          </a:xfrm>
          <a:prstGeom prst="rect">
            <a:avLst/>
          </a:prstGeom>
          <a:solidFill>
            <a:srgbClr val="007E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051560"/>
            <a:ext cx="7772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FFFFFF"/>
                </a:solidFill>
                <a:latin typeface="Aptos"/>
              </a:defRPr>
            </a:pPr>
            <a:r>
              <a:t>Emma Fabella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874519"/>
            <a:ext cx="7132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100" b="1">
                <a:solidFill>
                  <a:srgbClr val="D6EEEF"/>
                </a:solidFill>
                <a:latin typeface="Aptos"/>
              </a:defRPr>
            </a:pPr>
            <a:r>
              <a:t>Senior Full-Stack Engineer  |  Technical Lead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2542032"/>
            <a:ext cx="6217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FFFFF"/>
                </a:solidFill>
                <a:latin typeface="Aptos"/>
              </a:defRPr>
            </a:pPr>
            <a:r>
              <a:t>16 Years of Software Engineering Experience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13232" y="3337560"/>
            <a:ext cx="6355080" cy="475488"/>
          </a:xfrm>
          <a:prstGeom prst="roundRect">
            <a:avLst/>
          </a:prstGeom>
          <a:solidFill>
            <a:srgbClr val="1E3948"/>
          </a:solidFill>
          <a:ln>
            <a:solidFill>
              <a:srgbClr val="D3DE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13232" y="3337560"/>
            <a:ext cx="73152" cy="475488"/>
          </a:xfrm>
          <a:prstGeom prst="rect">
            <a:avLst/>
          </a:prstGeom>
          <a:solidFill>
            <a:srgbClr val="4CA4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3337560"/>
            <a:ext cx="5989320" cy="47548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defRPr sz="1300" b="0">
                <a:solidFill>
                  <a:srgbClr val="FFFFFF"/>
                </a:solidFill>
                <a:latin typeface="Aptos"/>
              </a:defRPr>
            </a:pPr>
            <a:r>
              <a:t>Java • Spring Boot • Angular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3995928"/>
            <a:ext cx="6355080" cy="475488"/>
          </a:xfrm>
          <a:prstGeom prst="roundRect">
            <a:avLst/>
          </a:prstGeom>
          <a:solidFill>
            <a:srgbClr val="1E3948"/>
          </a:solidFill>
          <a:ln>
            <a:solidFill>
              <a:srgbClr val="D3DE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13232" y="3995928"/>
            <a:ext cx="73152" cy="475488"/>
          </a:xfrm>
          <a:prstGeom prst="rect">
            <a:avLst/>
          </a:prstGeom>
          <a:solidFill>
            <a:srgbClr val="4CA4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3995928"/>
            <a:ext cx="5989320" cy="47548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defRPr sz="1300" b="0">
                <a:solidFill>
                  <a:srgbClr val="FFFFFF"/>
                </a:solidFill>
                <a:latin typeface="Aptos"/>
              </a:defRPr>
            </a:pPr>
            <a:r>
              <a:t>Microservices • REST APIs • Azure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13232" y="4654296"/>
            <a:ext cx="6355080" cy="475488"/>
          </a:xfrm>
          <a:prstGeom prst="roundRect">
            <a:avLst/>
          </a:prstGeom>
          <a:solidFill>
            <a:srgbClr val="1E3948"/>
          </a:solidFill>
          <a:ln>
            <a:solidFill>
              <a:srgbClr val="D3DE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13232" y="4654296"/>
            <a:ext cx="73152" cy="475488"/>
          </a:xfrm>
          <a:prstGeom prst="rect">
            <a:avLst/>
          </a:prstGeom>
          <a:solidFill>
            <a:srgbClr val="4CA4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4654296"/>
            <a:ext cx="5989320" cy="47548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defRPr sz="1300" b="0">
                <a:solidFill>
                  <a:srgbClr val="FFFFFF"/>
                </a:solidFill>
                <a:latin typeface="Aptos"/>
              </a:defRPr>
            </a:pPr>
            <a:r>
              <a:t>Technical Leadership • Architecture • DevOps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3232" y="5687568"/>
            <a:ext cx="7406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50" b="0">
                <a:solidFill>
                  <a:srgbClr val="CDDDE2"/>
                </a:solidFill>
                <a:latin typeface="Aptos"/>
              </a:defRPr>
            </a:pPr>
            <a:r>
              <a:t>Enterprise platforms across banking, healthcare, insurance, telecommunications, government, and enterprise environments.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464040" y="1051560"/>
            <a:ext cx="21488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  <a:latin typeface="Aptos"/>
              </a:defRPr>
            </a:pPr>
            <a:r>
              <a:t>BUILD</a:t>
            </a:r>
            <a:br/>
            <a:r>
              <a:t>WITH</a:t>
            </a:r>
            <a:br/>
            <a:r>
              <a:t>PURPOSE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281160" y="5230368"/>
            <a:ext cx="25603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ptos"/>
              </a:defRPr>
            </a:pPr>
            <a:r>
              <a:t>QIAGEN INTERVIEW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94360" y="6455664"/>
            <a:ext cx="10972800" cy="10972"/>
          </a:xfrm>
          <a:prstGeom prst="rect">
            <a:avLst/>
          </a:prstGeom>
          <a:solidFill>
            <a:srgbClr val="DCE6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94360" y="6510528"/>
            <a:ext cx="4572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DCE6E8"/>
                </a:solidFill>
                <a:latin typeface="Aptos"/>
              </a:defRPr>
            </a:pPr>
            <a:r>
              <a:t>Emma Fabella  |  QIAGEN Interview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064240" y="6492240"/>
            <a:ext cx="502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DCE6E8"/>
                </a:solidFill>
                <a:latin typeface="Aptos"/>
              </a:defRPr>
            </a:pPr>
            <a: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9601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22A3A"/>
                </a:solidFill>
                <a:latin typeface="Aptos"/>
              </a:defRPr>
            </a:pPr>
            <a:r>
              <a:t>My Journey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195560" y="411480"/>
            <a:ext cx="1325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007E8C"/>
                </a:solidFill>
                <a:latin typeface="Aptos"/>
              </a:defRPr>
            </a:pPr>
            <a:r>
              <a:t>WHAT SHAPED ME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234440"/>
            <a:ext cx="5303520" cy="4389120"/>
          </a:xfrm>
          <a:prstGeom prst="roundRect">
            <a:avLst/>
          </a:prstGeom>
          <a:solidFill>
            <a:srgbClr val="E1F2F3"/>
          </a:solidFill>
          <a:ln>
            <a:solidFill>
              <a:srgbClr val="D3DE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1234440"/>
            <a:ext cx="73152" cy="4389120"/>
          </a:xfrm>
          <a:prstGeom prst="rect">
            <a:avLst/>
          </a:prstGeom>
          <a:solidFill>
            <a:srgbClr val="007E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86968" y="1399032"/>
            <a:ext cx="493775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122A3A"/>
                </a:solidFill>
                <a:latin typeface="Aptos"/>
              </a:defRPr>
            </a:pPr>
            <a:r>
              <a:t>Early Discipline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6968" y="1847088"/>
            <a:ext cx="4937759" cy="36118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232F37"/>
                </a:solidFill>
                <a:latin typeface="Aptos"/>
              </a:defRPr>
            </a:pPr>
            <a:r>
              <a:t>Working student since age 16.</a:t>
            </a:r>
            <a:br/>
            <a:br/>
            <a:r>
              <a:t>Graduated with honors and received academic recognition.</a:t>
            </a:r>
            <a:br/>
            <a:br/>
            <a:r>
              <a:t>There were times work made it hard to focus fully on my studies, so not every grade was perfect — but that trade-off shaped who I am today.</a:t>
            </a:r>
            <a:br/>
            <a:br/>
            <a:r>
              <a:t>Balancing education and work built persistence, discipline, accountability, and ownership.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234440"/>
            <a:ext cx="5303520" cy="4389120"/>
          </a:xfrm>
          <a:prstGeom prst="roundRect">
            <a:avLst/>
          </a:prstGeom>
          <a:solidFill>
            <a:srgbClr val="E7F4E9"/>
          </a:solidFill>
          <a:ln>
            <a:solidFill>
              <a:srgbClr val="D3DE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217920" y="1234440"/>
            <a:ext cx="73152" cy="4389120"/>
          </a:xfrm>
          <a:prstGeom prst="rect">
            <a:avLst/>
          </a:prstGeom>
          <a:solidFill>
            <a:srgbClr val="4CA4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19088" y="1399032"/>
            <a:ext cx="493775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122A3A"/>
                </a:solidFill>
                <a:latin typeface="Aptos"/>
              </a:defRPr>
            </a:pPr>
            <a:r>
              <a:t>What I Carried Forward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19088" y="1847088"/>
            <a:ext cx="4937759" cy="36118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232F37"/>
                </a:solidFill>
                <a:latin typeface="Aptos"/>
              </a:defRPr>
            </a:pPr>
            <a:r>
              <a:t>Bachelor of Science in Computer Science at the University of the Philippines.</a:t>
            </a:r>
            <a:br/>
            <a:br/>
            <a:r>
              <a:t>Academic work and real-world responsibilities shaped a practical approach to learning: understand the problem, take responsibility, and deliver meaningful results.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5870448"/>
            <a:ext cx="10698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122A3A"/>
                </a:solidFill>
                <a:latin typeface="Aptos"/>
              </a:defRPr>
            </a:pPr>
            <a:r>
              <a:t>Balancing work and education taught me how to keep learning while delivering in real-world conditions.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94360" y="6455664"/>
            <a:ext cx="10972800" cy="10972"/>
          </a:xfrm>
          <a:prstGeom prst="rect">
            <a:avLst/>
          </a:prstGeom>
          <a:solidFill>
            <a:srgbClr val="6674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94360" y="6510528"/>
            <a:ext cx="4572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6747C"/>
                </a:solidFill>
                <a:latin typeface="Aptos"/>
              </a:defRPr>
            </a:pPr>
            <a:r>
              <a:t>Emma Fabella  |  QIAGEN Interview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064240" y="6492240"/>
            <a:ext cx="502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66747C"/>
                </a:solidFill>
                <a:latin typeface="Aptos"/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9601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22A3A"/>
                </a:solidFill>
                <a:latin typeface="Aptos"/>
              </a:defRPr>
            </a:pPr>
            <a:r>
              <a:t>Technology With Purpose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195560" y="411480"/>
            <a:ext cx="1325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007E8C"/>
                </a:solidFill>
                <a:latin typeface="Aptos"/>
              </a:defRPr>
            </a:pPr>
            <a:r>
              <a:t>UNIVERSITY OF THE PHILIPPINES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234440"/>
            <a:ext cx="6400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7E8C"/>
                </a:solidFill>
                <a:latin typeface="Aptos"/>
              </a:defRPr>
            </a:pPr>
            <a:r>
              <a:t>Undergraduate Thesis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1783080"/>
            <a:ext cx="6583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22A3A"/>
                </a:solidFill>
                <a:latin typeface="Aptos"/>
              </a:defRPr>
            </a:pPr>
            <a:r>
              <a:t>Disease Pattern Mapping</a:t>
            </a:r>
            <a:br/>
            <a:r>
              <a:t>in the Philippines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971800"/>
            <a:ext cx="621792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232F37"/>
                </a:solidFill>
                <a:latin typeface="Aptos"/>
              </a:defRPr>
            </a:pPr>
            <a:r>
              <a:t>My undergraduate research focused on analysing disease patterns using data and technology to produce meaningful insights.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4681728"/>
            <a:ext cx="6309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4CA464"/>
                </a:solidFill>
                <a:latin typeface="Aptos"/>
              </a:defRPr>
            </a:pPr>
            <a:r>
              <a:t>Why it matters to me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5074920"/>
            <a:ext cx="63093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232F37"/>
                </a:solidFill>
                <a:latin typeface="Aptos"/>
              </a:defRPr>
            </a:pPr>
            <a:r>
              <a:t>It introduced me to the connection between technology, data, healthcare, and improving lives through better understanding and decision-making.</a:t>
            </a:r>
          </a:p>
        </p:txBody>
      </p:sp>
      <p:sp>
        <p:nvSpPr>
          <p:cNvPr id="10" name="Oval 9"/>
          <p:cNvSpPr/>
          <p:nvPr/>
        </p:nvSpPr>
        <p:spPr>
          <a:xfrm>
            <a:off x="7498079" y="1828800"/>
            <a:ext cx="1234440" cy="1234440"/>
          </a:xfrm>
          <a:prstGeom prst="ellipse">
            <a:avLst/>
          </a:prstGeom>
          <a:solidFill>
            <a:srgbClr val="E1F2F3"/>
          </a:solidFill>
          <a:ln>
            <a:solidFill>
              <a:srgbClr val="007E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498079" y="2267712"/>
            <a:ext cx="1234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122A3A"/>
                </a:solidFill>
                <a:latin typeface="Aptos"/>
              </a:defRPr>
            </a:pPr>
            <a:r>
              <a:t>DATA</a:t>
            </a:r>
          </a:p>
        </p:txBody>
      </p:sp>
      <p:sp>
        <p:nvSpPr>
          <p:cNvPr id="12" name="Oval 11"/>
          <p:cNvSpPr/>
          <p:nvPr/>
        </p:nvSpPr>
        <p:spPr>
          <a:xfrm>
            <a:off x="9509760" y="1508760"/>
            <a:ext cx="1234440" cy="1234440"/>
          </a:xfrm>
          <a:prstGeom prst="ellipse">
            <a:avLst/>
          </a:prstGeom>
          <a:solidFill>
            <a:srgbClr val="E7F4E9"/>
          </a:solidFill>
          <a:ln>
            <a:solidFill>
              <a:srgbClr val="4CA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509760" y="1947672"/>
            <a:ext cx="1234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122A3A"/>
                </a:solidFill>
                <a:latin typeface="Aptos"/>
              </a:defRPr>
            </a:pPr>
            <a:r>
              <a:t>PATTERNS</a:t>
            </a:r>
          </a:p>
        </p:txBody>
      </p:sp>
      <p:sp>
        <p:nvSpPr>
          <p:cNvPr id="14" name="Oval 13"/>
          <p:cNvSpPr/>
          <p:nvPr/>
        </p:nvSpPr>
        <p:spPr>
          <a:xfrm>
            <a:off x="8321040" y="2880360"/>
            <a:ext cx="1234440" cy="1234440"/>
          </a:xfrm>
          <a:prstGeom prst="ellipse">
            <a:avLst/>
          </a:prstGeom>
          <a:solidFill>
            <a:srgbClr val="E1F2F3"/>
          </a:solidFill>
          <a:ln>
            <a:solidFill>
              <a:srgbClr val="007E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21040" y="3319272"/>
            <a:ext cx="1234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122A3A"/>
                </a:solidFill>
                <a:latin typeface="Aptos"/>
              </a:defRPr>
            </a:pPr>
            <a:r>
              <a:t>INSIGHT</a:t>
            </a:r>
          </a:p>
        </p:txBody>
      </p:sp>
      <p:sp>
        <p:nvSpPr>
          <p:cNvPr id="16" name="Oval 15"/>
          <p:cNvSpPr/>
          <p:nvPr/>
        </p:nvSpPr>
        <p:spPr>
          <a:xfrm>
            <a:off x="10058400" y="3383280"/>
            <a:ext cx="1234440" cy="1234440"/>
          </a:xfrm>
          <a:prstGeom prst="ellipse">
            <a:avLst/>
          </a:prstGeom>
          <a:solidFill>
            <a:srgbClr val="E7F4E9"/>
          </a:solidFill>
          <a:ln>
            <a:solidFill>
              <a:srgbClr val="4CA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058400" y="3822191"/>
            <a:ext cx="1234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122A3A"/>
                </a:solidFill>
                <a:latin typeface="Aptos"/>
              </a:defRPr>
            </a:pPr>
            <a:r>
              <a:t>IMPACT</a:t>
            </a:r>
          </a:p>
        </p:txBody>
      </p:sp>
      <p:sp>
        <p:nvSpPr>
          <p:cNvPr id="18" name="Oval 17"/>
          <p:cNvSpPr/>
          <p:nvPr/>
        </p:nvSpPr>
        <p:spPr>
          <a:xfrm>
            <a:off x="7452360" y="4206240"/>
            <a:ext cx="1234440" cy="1234440"/>
          </a:xfrm>
          <a:prstGeom prst="ellipse">
            <a:avLst/>
          </a:prstGeom>
          <a:solidFill>
            <a:srgbClr val="E1F2F3"/>
          </a:solidFill>
          <a:ln>
            <a:solidFill>
              <a:srgbClr val="007E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452360" y="4645152"/>
            <a:ext cx="1234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122A3A"/>
                </a:solidFill>
                <a:latin typeface="Aptos"/>
              </a:defRPr>
            </a:pPr>
            <a:r>
              <a:t>HEALTH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94360" y="6455664"/>
            <a:ext cx="10972800" cy="10972"/>
          </a:xfrm>
          <a:prstGeom prst="rect">
            <a:avLst/>
          </a:prstGeom>
          <a:solidFill>
            <a:srgbClr val="6674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94360" y="6510528"/>
            <a:ext cx="4572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6747C"/>
                </a:solidFill>
                <a:latin typeface="Aptos"/>
              </a:defRPr>
            </a:pPr>
            <a:r>
              <a:t>Emma Fabella  |  QIAGEN Interview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064240" y="6492240"/>
            <a:ext cx="502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66747C"/>
                </a:solidFill>
                <a:latin typeface="Aptos"/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566928"/>
            <a:ext cx="7772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900" b="1">
                <a:solidFill>
                  <a:srgbClr val="FFFFFF"/>
                </a:solidFill>
                <a:latin typeface="Aptos"/>
              </a:defRPr>
            </a:pPr>
            <a:r>
              <a:t>Why QIAGEN Resonates With 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1325880"/>
            <a:ext cx="6583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CDEFE6"/>
                </a:solidFill>
                <a:latin typeface="Aptos"/>
              </a:defRPr>
            </a:pPr>
            <a:r>
              <a:t>Making improvements in life possible.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148840"/>
            <a:ext cx="4983480" cy="2560320"/>
          </a:xfrm>
          <a:prstGeom prst="roundRect">
            <a:avLst/>
          </a:prstGeom>
          <a:solidFill>
            <a:srgbClr val="1D3C49"/>
          </a:solidFill>
          <a:ln>
            <a:solidFill>
              <a:srgbClr val="375E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" y="2560320"/>
            <a:ext cx="4343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4CA464"/>
                </a:solidFill>
                <a:latin typeface="Aptos"/>
              </a:defRPr>
            </a:pPr>
            <a:r>
              <a:t>MY THESIS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3063240"/>
            <a:ext cx="425196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500" b="1">
                <a:solidFill>
                  <a:srgbClr val="FFFFFF"/>
                </a:solidFill>
                <a:latin typeface="Aptos"/>
              </a:defRPr>
            </a:pPr>
            <a:r>
              <a:t>Health-related information</a:t>
            </a:r>
            <a:br/>
            <a:r>
              <a:t>→ meaningful insights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4315968"/>
            <a:ext cx="4206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>
                <a:solidFill>
                  <a:srgbClr val="CDDDE2"/>
                </a:solidFill>
                <a:latin typeface="Aptos"/>
              </a:defRPr>
            </a:pPr>
            <a:r>
              <a:t>Disease pattern mapping in the Philippines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2057400"/>
            <a:ext cx="4663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4CA464"/>
                </a:solidFill>
                <a:latin typeface="Aptos"/>
              </a:defRPr>
            </a:pPr>
            <a:r>
              <a:t>QIAGEN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2578608"/>
            <a:ext cx="457200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Aptos"/>
              </a:defRPr>
            </a:pPr>
            <a:r>
              <a:t>Sample to Insight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3730752"/>
            <a:ext cx="457200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E0EAED"/>
                </a:solidFill>
                <a:latin typeface="Aptos"/>
              </a:defRPr>
            </a:pPr>
            <a:r>
              <a:t>The connection I see is simple:</a:t>
            </a:r>
            <a:br/>
            <a:r>
              <a:t>using technology and information to support better understanding, better decisions, and meaningful outcomes.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5257800"/>
            <a:ext cx="4572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CDEFE6"/>
                </a:solidFill>
                <a:latin typeface="Aptos"/>
              </a:defRPr>
            </a:pPr>
            <a:r>
              <a:t>Technology  •  Data  •  Healthcare  •  Impact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94360" y="6455664"/>
            <a:ext cx="10972800" cy="10972"/>
          </a:xfrm>
          <a:prstGeom prst="rect">
            <a:avLst/>
          </a:prstGeom>
          <a:solidFill>
            <a:srgbClr val="DCE6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94360" y="6510528"/>
            <a:ext cx="4572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DCE6E8"/>
                </a:solidFill>
                <a:latin typeface="Aptos"/>
              </a:defRPr>
            </a:pPr>
            <a:r>
              <a:t>Emma Fabella  |  QIAGEN Interview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064240" y="6492240"/>
            <a:ext cx="502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DCE6E8"/>
                </a:solidFill>
                <a:latin typeface="Aptos"/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9601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22A3A"/>
                </a:solidFill>
                <a:latin typeface="Aptos"/>
              </a:defRPr>
            </a:pPr>
            <a:r>
              <a:t>Alignment With QIAGEN Values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195560" y="411480"/>
            <a:ext cx="1325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007E8C"/>
                </a:solidFill>
                <a:latin typeface="Aptos"/>
              </a:defRPr>
            </a:pPr>
            <a:r>
              <a:t>EMPOWER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58368" y="1417320"/>
            <a:ext cx="3493008" cy="4251960"/>
          </a:xfrm>
          <a:prstGeom prst="roundRect">
            <a:avLst/>
          </a:prstGeom>
          <a:solidFill>
            <a:srgbClr val="E1F2F3"/>
          </a:solidFill>
          <a:ln>
            <a:solidFill>
              <a:srgbClr val="D3DE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58368" y="1417320"/>
            <a:ext cx="73152" cy="4251960"/>
          </a:xfrm>
          <a:prstGeom prst="rect">
            <a:avLst/>
          </a:prstGeom>
          <a:solidFill>
            <a:srgbClr val="007E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59536" y="1581912"/>
            <a:ext cx="312724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22A3A"/>
                </a:solidFill>
                <a:latin typeface="Aptos"/>
              </a:defRPr>
            </a:pPr>
            <a:r>
              <a:t>Ownership &amp; Responsibility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9536" y="2029968"/>
            <a:ext cx="3127248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32F37"/>
                </a:solidFill>
                <a:latin typeface="Aptos"/>
              </a:defRPr>
            </a:pPr>
            <a:r>
              <a:t>Working student since age 16. Taking responsibility for education, work, and personal growth.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80559" y="1417320"/>
            <a:ext cx="3493008" cy="4251960"/>
          </a:xfrm>
          <a:prstGeom prst="roundRect">
            <a:avLst/>
          </a:prstGeom>
          <a:solidFill>
            <a:srgbClr val="E7F4E9"/>
          </a:solidFill>
          <a:ln>
            <a:solidFill>
              <a:srgbClr val="D3DE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480559" y="1417320"/>
            <a:ext cx="73152" cy="4251960"/>
          </a:xfrm>
          <a:prstGeom prst="rect">
            <a:avLst/>
          </a:prstGeom>
          <a:solidFill>
            <a:srgbClr val="4CA4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81727" y="1581912"/>
            <a:ext cx="312724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22A3A"/>
                </a:solidFill>
                <a:latin typeface="Aptos"/>
              </a:defRPr>
            </a:pPr>
            <a:r>
              <a:t>Continuous Learning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81727" y="2029968"/>
            <a:ext cx="3127248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32F37"/>
                </a:solidFill>
                <a:latin typeface="Aptos"/>
              </a:defRPr>
            </a:pPr>
            <a:r>
              <a:t>MS Information Technology foundational coursework completed and currently pursuing a Global MBA while maintaining a professional career.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302752" y="1417320"/>
            <a:ext cx="3493008" cy="4251960"/>
          </a:xfrm>
          <a:prstGeom prst="roundRect">
            <a:avLst/>
          </a:prstGeom>
          <a:solidFill>
            <a:srgbClr val="E1F2F3"/>
          </a:solidFill>
          <a:ln>
            <a:solidFill>
              <a:srgbClr val="D3DE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302752" y="1417320"/>
            <a:ext cx="73152" cy="4251960"/>
          </a:xfrm>
          <a:prstGeom prst="rect">
            <a:avLst/>
          </a:prstGeom>
          <a:solidFill>
            <a:srgbClr val="007E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503920" y="1581912"/>
            <a:ext cx="312724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22A3A"/>
                </a:solidFill>
                <a:latin typeface="Aptos"/>
              </a:defRPr>
            </a:pPr>
            <a:r>
              <a:t>Collaboration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03920" y="2029968"/>
            <a:ext cx="3127248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32F37"/>
                </a:solidFill>
                <a:latin typeface="Aptos"/>
              </a:defRPr>
            </a:pPr>
            <a:r>
              <a:t>Mentoring, code reviews, onboarding, knowledge sharing, and technical leadership throughout my career.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594360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122A3A"/>
                </a:solidFill>
                <a:latin typeface="Aptos"/>
              </a:defRPr>
            </a:pPr>
            <a:r>
              <a:t>I try to demonstrate values through how I work, not only through what I say.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94360" y="6455664"/>
            <a:ext cx="10972800" cy="10972"/>
          </a:xfrm>
          <a:prstGeom prst="rect">
            <a:avLst/>
          </a:prstGeom>
          <a:solidFill>
            <a:srgbClr val="6674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94360" y="6510528"/>
            <a:ext cx="4572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6747C"/>
                </a:solidFill>
                <a:latin typeface="Aptos"/>
              </a:defRPr>
            </a:pPr>
            <a:r>
              <a:t>Emma Fabella  |  QIAGEN Interview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064240" y="6492240"/>
            <a:ext cx="502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66747C"/>
                </a:solidFill>
                <a:latin typeface="Aptos"/>
              </a:defRPr>
            </a:pPr>
            <a: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9601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22A3A"/>
                </a:solidFill>
                <a:latin typeface="Aptos"/>
              </a:defRPr>
            </a:pPr>
            <a:r>
              <a:t>Technical Expertise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195560" y="411480"/>
            <a:ext cx="1325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007E8C"/>
                </a:solidFill>
                <a:latin typeface="Aptos"/>
              </a:defRPr>
            </a:pPr>
            <a:r>
              <a:t>ENGINEERING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325880"/>
            <a:ext cx="3474720" cy="4434840"/>
          </a:xfrm>
          <a:prstGeom prst="roundRect">
            <a:avLst/>
          </a:prstGeom>
          <a:solidFill>
            <a:srgbClr val="E1F2F3"/>
          </a:solidFill>
          <a:ln>
            <a:solidFill>
              <a:srgbClr val="D3DE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1325880"/>
            <a:ext cx="73152" cy="4434840"/>
          </a:xfrm>
          <a:prstGeom prst="rect">
            <a:avLst/>
          </a:prstGeom>
          <a:solidFill>
            <a:srgbClr val="007E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86968" y="1490472"/>
            <a:ext cx="3108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22A3A"/>
                </a:solidFill>
                <a:latin typeface="Aptos"/>
              </a:defRPr>
            </a:pPr>
            <a:r>
              <a:t>Backend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6968" y="1938528"/>
            <a:ext cx="3108960" cy="36575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232F37"/>
                </a:solidFill>
                <a:latin typeface="Aptos"/>
              </a:defRPr>
            </a:pPr>
            <a:r>
              <a:t>Java</a:t>
            </a:r>
            <a:br/>
            <a:r>
              <a:t>Spring Boot</a:t>
            </a:r>
            <a:br/>
            <a:r>
              <a:t>REST APIs</a:t>
            </a:r>
            <a:br/>
            <a:r>
              <a:t>Microservices</a:t>
            </a:r>
            <a:br/>
            <a:r>
              <a:t>Hibernate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61688" y="1325880"/>
            <a:ext cx="3474720" cy="4434840"/>
          </a:xfrm>
          <a:prstGeom prst="roundRect">
            <a:avLst/>
          </a:prstGeom>
          <a:solidFill>
            <a:srgbClr val="E7F4E9"/>
          </a:solidFill>
          <a:ln>
            <a:solidFill>
              <a:srgbClr val="D3DE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361688" y="1325880"/>
            <a:ext cx="73152" cy="4434840"/>
          </a:xfrm>
          <a:prstGeom prst="rect">
            <a:avLst/>
          </a:prstGeom>
          <a:solidFill>
            <a:srgbClr val="4CA4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62855" y="1490472"/>
            <a:ext cx="3108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22A3A"/>
                </a:solidFill>
                <a:latin typeface="Aptos"/>
              </a:defRPr>
            </a:pPr>
            <a:r>
              <a:t>Frontend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62855" y="1938528"/>
            <a:ext cx="3108960" cy="36575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232F37"/>
                </a:solidFill>
                <a:latin typeface="Aptos"/>
              </a:defRPr>
            </a:pPr>
            <a:r>
              <a:t>Angular</a:t>
            </a:r>
            <a:br/>
            <a:r>
              <a:t>Vue.js</a:t>
            </a:r>
            <a:br/>
            <a:r>
              <a:t>React</a:t>
            </a:r>
            <a:br/>
            <a:r>
              <a:t>JavaScript</a:t>
            </a:r>
            <a:br/>
            <a:r>
              <a:t>HTML5 / CSS3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37575" y="1325880"/>
            <a:ext cx="3474720" cy="4434840"/>
          </a:xfrm>
          <a:prstGeom prst="roundRect">
            <a:avLst/>
          </a:prstGeom>
          <a:solidFill>
            <a:srgbClr val="E1F2F3"/>
          </a:solidFill>
          <a:ln>
            <a:solidFill>
              <a:srgbClr val="D3DE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037575" y="1325880"/>
            <a:ext cx="73152" cy="4434840"/>
          </a:xfrm>
          <a:prstGeom prst="rect">
            <a:avLst/>
          </a:prstGeom>
          <a:solidFill>
            <a:srgbClr val="007E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38744" y="1490472"/>
            <a:ext cx="3108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22A3A"/>
                </a:solidFill>
                <a:latin typeface="Aptos"/>
              </a:defRPr>
            </a:pPr>
            <a:r>
              <a:t>Cloud &amp; DevOps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38744" y="1938528"/>
            <a:ext cx="3108960" cy="36575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232F37"/>
                </a:solidFill>
                <a:latin typeface="Aptos"/>
              </a:defRPr>
            </a:pPr>
            <a:r>
              <a:t>Azure</a:t>
            </a:r>
            <a:br/>
            <a:r>
              <a:t>AWS</a:t>
            </a:r>
            <a:br/>
            <a:r>
              <a:t>Docker</a:t>
            </a:r>
            <a:br/>
            <a:r>
              <a:t>Jenkins</a:t>
            </a:r>
            <a:br/>
            <a:r>
              <a:t>Kubernetes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5961888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50" b="0">
                <a:solidFill>
                  <a:srgbClr val="66747C"/>
                </a:solidFill>
                <a:latin typeface="Aptos"/>
              </a:defRPr>
            </a:pPr>
            <a:r>
              <a:t>Experience also includes databases, testing, API security, CI/CD, code quality, and enterprise integrations.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94360" y="6455664"/>
            <a:ext cx="10972800" cy="10972"/>
          </a:xfrm>
          <a:prstGeom prst="rect">
            <a:avLst/>
          </a:prstGeom>
          <a:solidFill>
            <a:srgbClr val="6674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94360" y="6510528"/>
            <a:ext cx="4572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6747C"/>
                </a:solidFill>
                <a:latin typeface="Aptos"/>
              </a:defRPr>
            </a:pPr>
            <a:r>
              <a:t>Emma Fabella  |  QIAGEN Interview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064240" y="6492240"/>
            <a:ext cx="502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66747C"/>
                </a:solidFill>
                <a:latin typeface="Aptos"/>
              </a:defRPr>
            </a:pPr>
            <a: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9601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22A3A"/>
                </a:solidFill>
                <a:latin typeface="Aptos"/>
              </a:defRPr>
            </a:pPr>
            <a:r>
              <a:t>Enterprise Experience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195560" y="411480"/>
            <a:ext cx="1325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007E8C"/>
                </a:solidFill>
                <a:latin typeface="Aptos"/>
              </a:defRPr>
            </a:pPr>
            <a:r>
              <a:t>SELECTED WORK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325880"/>
            <a:ext cx="5257800" cy="1783080"/>
          </a:xfrm>
          <a:prstGeom prst="roundRect">
            <a:avLst/>
          </a:prstGeom>
          <a:solidFill>
            <a:srgbClr val="E1F2F3"/>
          </a:solidFill>
          <a:ln>
            <a:solidFill>
              <a:srgbClr val="D3DE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325880"/>
            <a:ext cx="73152" cy="1783080"/>
          </a:xfrm>
          <a:prstGeom prst="rect">
            <a:avLst/>
          </a:prstGeom>
          <a:solidFill>
            <a:srgbClr val="007E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1247" y="1490472"/>
            <a:ext cx="4892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22A3A"/>
                </a:solidFill>
                <a:latin typeface="Aptos"/>
              </a:defRPr>
            </a:pPr>
            <a:r>
              <a:t>Fujitsu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7" y="1938528"/>
            <a:ext cx="48920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50" b="0">
                <a:solidFill>
                  <a:srgbClr val="232F37"/>
                </a:solidFill>
                <a:latin typeface="Aptos"/>
              </a:defRPr>
            </a:pPr>
            <a:r>
              <a:t>Team Leadership</a:t>
            </a:r>
            <a:br/>
            <a:r>
              <a:t>Development Standards</a:t>
            </a:r>
            <a:br/>
            <a:r>
              <a:t>Architecture Support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60" y="1325880"/>
            <a:ext cx="5257800" cy="1783080"/>
          </a:xfrm>
          <a:prstGeom prst="roundRect">
            <a:avLst/>
          </a:prstGeom>
          <a:solidFill>
            <a:srgbClr val="E7F4E9"/>
          </a:solidFill>
          <a:ln>
            <a:solidFill>
              <a:srgbClr val="D3DE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309360" y="1325880"/>
            <a:ext cx="73152" cy="1783080"/>
          </a:xfrm>
          <a:prstGeom prst="rect">
            <a:avLst/>
          </a:prstGeom>
          <a:solidFill>
            <a:srgbClr val="4CA4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10528" y="1490472"/>
            <a:ext cx="4892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22A3A"/>
                </a:solidFill>
                <a:latin typeface="Aptos"/>
              </a:defRPr>
            </a:pPr>
            <a:r>
              <a:t>National Australia Bank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10528" y="1938528"/>
            <a:ext cx="48920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50" b="0">
                <a:solidFill>
                  <a:srgbClr val="232F37"/>
                </a:solidFill>
                <a:latin typeface="Aptos"/>
              </a:defRPr>
            </a:pPr>
            <a:r>
              <a:t>Kafka</a:t>
            </a:r>
            <a:br/>
            <a:r>
              <a:t>Spring Boot</a:t>
            </a:r>
            <a:br/>
            <a:r>
              <a:t>Banking Microservices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3474720"/>
            <a:ext cx="5257800" cy="1783080"/>
          </a:xfrm>
          <a:prstGeom prst="roundRect">
            <a:avLst/>
          </a:prstGeom>
          <a:solidFill>
            <a:srgbClr val="E1F2F3"/>
          </a:solidFill>
          <a:ln>
            <a:solidFill>
              <a:srgbClr val="D3DE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40080" y="3474720"/>
            <a:ext cx="73152" cy="1783080"/>
          </a:xfrm>
          <a:prstGeom prst="rect">
            <a:avLst/>
          </a:prstGeom>
          <a:solidFill>
            <a:srgbClr val="007E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41247" y="3639312"/>
            <a:ext cx="4892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22A3A"/>
                </a:solidFill>
                <a:latin typeface="Aptos"/>
              </a:defRPr>
            </a:pPr>
            <a:r>
              <a:t>The Walt Disney Company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1247" y="4087368"/>
            <a:ext cx="48920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50" b="0">
                <a:solidFill>
                  <a:srgbClr val="232F37"/>
                </a:solidFill>
                <a:latin typeface="Aptos"/>
              </a:defRPr>
            </a:pPr>
            <a:r>
              <a:t>Java Services</a:t>
            </a:r>
            <a:br/>
            <a:r>
              <a:t>API Integrations</a:t>
            </a:r>
            <a:br/>
            <a:r>
              <a:t>Authentication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309360" y="3474720"/>
            <a:ext cx="5257800" cy="1783080"/>
          </a:xfrm>
          <a:prstGeom prst="roundRect">
            <a:avLst/>
          </a:prstGeom>
          <a:solidFill>
            <a:srgbClr val="E7F4E9"/>
          </a:solidFill>
          <a:ln>
            <a:solidFill>
              <a:srgbClr val="D3DE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309360" y="3474720"/>
            <a:ext cx="73152" cy="1783080"/>
          </a:xfrm>
          <a:prstGeom prst="rect">
            <a:avLst/>
          </a:prstGeom>
          <a:solidFill>
            <a:srgbClr val="4CA4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10528" y="3639312"/>
            <a:ext cx="4892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22A3A"/>
                </a:solidFill>
                <a:latin typeface="Aptos"/>
              </a:defRPr>
            </a:pPr>
            <a:r>
              <a:t>Healthcare &amp; Insurance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10528" y="4087368"/>
            <a:ext cx="48920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50" b="0">
                <a:solidFill>
                  <a:srgbClr val="232F37"/>
                </a:solidFill>
                <a:latin typeface="Aptos"/>
              </a:defRPr>
            </a:pPr>
            <a:r>
              <a:t>AEM / Java</a:t>
            </a:r>
            <a:br/>
            <a:r>
              <a:t>Enterprise Platforms</a:t>
            </a:r>
            <a:br/>
            <a:r>
              <a:t>Business-Critical Systems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" y="5806440"/>
            <a:ext cx="10424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122A3A"/>
                </a:solidFill>
                <a:latin typeface="Aptos"/>
              </a:defRPr>
            </a:pPr>
            <a:r>
              <a:t>Across different industries, the common thread has been solving complex problems while working within enterprise constraints.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94360" y="6455664"/>
            <a:ext cx="10972800" cy="10972"/>
          </a:xfrm>
          <a:prstGeom prst="rect">
            <a:avLst/>
          </a:prstGeom>
          <a:solidFill>
            <a:srgbClr val="6674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94360" y="6510528"/>
            <a:ext cx="4572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6747C"/>
                </a:solidFill>
                <a:latin typeface="Aptos"/>
              </a:defRPr>
            </a:pPr>
            <a:r>
              <a:t>Emma Fabella  |  QIAGEN Interview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064240" y="6492240"/>
            <a:ext cx="502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66747C"/>
                </a:solidFill>
                <a:latin typeface="Aptos"/>
              </a:defRPr>
            </a:pPr>
            <a: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9601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22A3A"/>
                </a:solidFill>
                <a:latin typeface="Aptos"/>
              </a:defRPr>
            </a:pPr>
            <a:r>
              <a:t>Continuous Learning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195560" y="411480"/>
            <a:ext cx="1325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007E8C"/>
                </a:solidFill>
                <a:latin typeface="Aptos"/>
              </a:defRPr>
            </a:pPr>
            <a:r>
              <a:t>ALWAYS EVOLVING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3444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7E8C"/>
                </a:solidFill>
                <a:latin typeface="Aptos"/>
              </a:defRPr>
            </a:pPr>
            <a:r>
              <a:t>Education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91640"/>
            <a:ext cx="548640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500">
                <a:solidFill>
                  <a:srgbClr val="232F37"/>
                </a:solidFill>
                <a:latin typeface="Aptos"/>
              </a:defRPr>
            </a:pPr>
            <a:r>
              <a:t>• BS Computer Science — University of the Philippines</a:t>
            </a:r>
          </a:p>
          <a:p>
            <a:pPr>
              <a:spcAft>
                <a:spcPts val="1200"/>
              </a:spcAft>
              <a:defRPr sz="1500">
                <a:solidFill>
                  <a:srgbClr val="232F37"/>
                </a:solidFill>
                <a:latin typeface="Aptos"/>
              </a:defRPr>
            </a:pPr>
            <a:r>
              <a:t>• MS Information Technology — foundational coursework completed</a:t>
            </a:r>
          </a:p>
          <a:p>
            <a:pPr>
              <a:spcAft>
                <a:spcPts val="1200"/>
              </a:spcAft>
              <a:defRPr sz="1500">
                <a:solidFill>
                  <a:srgbClr val="232F37"/>
                </a:solidFill>
                <a:latin typeface="Aptos"/>
              </a:defRPr>
            </a:pPr>
            <a:r>
              <a:t>• Global MBA — The University of Western Australia (ongoing, 2026)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123444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4CA464"/>
                </a:solidFill>
                <a:latin typeface="Aptos"/>
              </a:defRPr>
            </a:pPr>
            <a:r>
              <a:t>Professional Development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1691640"/>
            <a:ext cx="475488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>
                <a:solidFill>
                  <a:srgbClr val="232F37"/>
                </a:solidFill>
                <a:latin typeface="Aptos"/>
              </a:defRPr>
            </a:pPr>
            <a:r>
              <a:t>• Harvard Business School Online</a:t>
            </a:r>
          </a:p>
          <a:p>
            <a:pPr>
              <a:spcAft>
                <a:spcPts val="1000"/>
              </a:spcAft>
              <a:defRPr sz="1500">
                <a:solidFill>
                  <a:srgbClr val="232F37"/>
                </a:solidFill>
                <a:latin typeface="Aptos"/>
              </a:defRPr>
            </a:pPr>
            <a:r>
              <a:t>• University of Tokyo</a:t>
            </a:r>
          </a:p>
          <a:p>
            <a:pPr>
              <a:spcAft>
                <a:spcPts val="1000"/>
              </a:spcAft>
              <a:defRPr sz="1500">
                <a:solidFill>
                  <a:srgbClr val="232F37"/>
                </a:solidFill>
                <a:latin typeface="Aptos"/>
              </a:defRPr>
            </a:pPr>
            <a:r>
              <a:t>• Microsoft Learning</a:t>
            </a:r>
          </a:p>
          <a:p>
            <a:pPr>
              <a:spcAft>
                <a:spcPts val="1000"/>
              </a:spcAft>
              <a:defRPr sz="1500">
                <a:solidFill>
                  <a:srgbClr val="232F37"/>
                </a:solidFill>
                <a:latin typeface="Aptos"/>
              </a:defRPr>
            </a:pPr>
            <a:r>
              <a:t>• Coursera</a:t>
            </a:r>
          </a:p>
          <a:p>
            <a:pPr>
              <a:spcAft>
                <a:spcPts val="1000"/>
              </a:spcAft>
              <a:defRPr sz="1500">
                <a:solidFill>
                  <a:srgbClr val="232F37"/>
                </a:solidFill>
                <a:latin typeface="Aptos"/>
              </a:defRPr>
            </a:pPr>
            <a:r>
              <a:t>• Pluralsight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4617720"/>
            <a:ext cx="10378440" cy="1051560"/>
          </a:xfrm>
          <a:prstGeom prst="roundRect">
            <a:avLst/>
          </a:prstGeom>
          <a:solidFill>
            <a:srgbClr val="12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51560" y="4864608"/>
            <a:ext cx="9692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Aptos"/>
              </a:defRPr>
            </a:pPr>
            <a:r>
              <a:t>Learning keeps my technical skills current while expanding how I think about business, delivery, and leadership.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94360" y="6455664"/>
            <a:ext cx="10972800" cy="10972"/>
          </a:xfrm>
          <a:prstGeom prst="rect">
            <a:avLst/>
          </a:prstGeom>
          <a:solidFill>
            <a:srgbClr val="6674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94360" y="6510528"/>
            <a:ext cx="4572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6747C"/>
                </a:solidFill>
                <a:latin typeface="Aptos"/>
              </a:defRPr>
            </a:pPr>
            <a:r>
              <a:t>Emma Fabella  |  QIAGEN Interview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064240" y="6492240"/>
            <a:ext cx="502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66747C"/>
                </a:solidFill>
                <a:latin typeface="Aptos"/>
              </a:defRPr>
            </a:pPr>
            <a: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11480"/>
            <a:ext cx="1078992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22A3A"/>
                </a:solidFill>
                <a:latin typeface="Aptos"/>
              </a:defRPr>
            </a:pPr>
            <a:r>
              <a:t>How I Work</a:t>
            </a:r>
          </a:p>
        </p:txBody>
      </p:sp>
      <p:sp>
        <p:nvSpPr>
          <p:cNvPr id="3b" name="TextBox 2b"/>
          <p:cNvSpPr txBox="1"/>
          <p:nvPr/>
        </p:nvSpPr>
        <p:spPr>
          <a:xfrm>
            <a:off x="9601200" y="411480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007E8C"/>
                </a:solidFill>
                <a:latin typeface="Aptos"/>
              </a:defRPr>
            </a:pPr>
            <a:r>
              <a:t>WORKING STYLE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1097280"/>
            <a:ext cx="104241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F6970"/>
                </a:solidFill>
                <a:latin typeface="Aptos"/>
              </a:defRPr>
            </a:pPr>
            <a:r>
              <a:t>Work preferences, collaboration, and how I handle blockers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508760"/>
            <a:ext cx="5212080" cy="1234440"/>
          </a:xfrm>
          <a:prstGeom prst="roundRect">
            <a:avLst/>
          </a:prstGeom>
          <a:solidFill>
            <a:srgbClr val="EFF8F6"/>
          </a:solidFill>
          <a:ln>
            <a:solidFill>
              <a:srgbClr val="CDE1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0F2A3D"/>
                </a:solidFill>
                <a:latin typeface="Aptos Display"/>
              </a:defRPr>
            </a:pPr>
            <a:r>
              <a:t>Focused Environment</a:t>
            </a:r>
          </a:p>
          <a:p>
            <a:pPr>
              <a:spcBef>
                <a:spcPts val="600"/>
              </a:spcBef>
              <a:defRPr sz="1250">
                <a:solidFill>
                  <a:srgbClr val="232D34"/>
                </a:solidFill>
                <a:latin typeface="Aptos"/>
              </a:defRPr>
            </a:pPr>
            <a:r>
              <a:t>I work best in a quiet, focused environment where I can concentrate deeply on complex technical tasks and problem-solving.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080760" y="1508760"/>
            <a:ext cx="5212080" cy="1234440"/>
          </a:xfrm>
          <a:prstGeom prst="roundRect">
            <a:avLst/>
          </a:prstGeom>
          <a:solidFill>
            <a:srgbClr val="EFF8F6"/>
          </a:solidFill>
          <a:ln>
            <a:solidFill>
              <a:srgbClr val="CDE1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0F2A3D"/>
                </a:solidFill>
                <a:latin typeface="Aptos Display"/>
              </a:defRPr>
            </a:pPr>
            <a:r>
              <a:t>Organization &amp; Multitasking</a:t>
            </a:r>
          </a:p>
          <a:p>
            <a:pPr>
              <a:spcBef>
                <a:spcPts val="600"/>
              </a:spcBef>
              <a:defRPr sz="1250">
                <a:solidFill>
                  <a:srgbClr val="232D34"/>
                </a:solidFill>
                <a:latin typeface="Aptos"/>
              </a:defRPr>
            </a:pPr>
            <a:r>
              <a:t>I use a structured workflow and a six-screen setup to keep the information I need readily available and stay organized across tasks.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2971800"/>
            <a:ext cx="5212080" cy="1234440"/>
          </a:xfrm>
          <a:prstGeom prst="roundRect">
            <a:avLst/>
          </a:prstGeom>
          <a:solidFill>
            <a:srgbClr val="EFF8F6"/>
          </a:solidFill>
          <a:ln>
            <a:solidFill>
              <a:srgbClr val="CDE1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0F2A3D"/>
                </a:solidFill>
                <a:latin typeface="Aptos Display"/>
              </a:defRPr>
            </a:pPr>
            <a:r>
              <a:t>Flexibility &amp; Collaboration</a:t>
            </a:r>
          </a:p>
          <a:p>
            <a:pPr>
              <a:spcBef>
                <a:spcPts val="600"/>
              </a:spcBef>
              <a:defRPr sz="1250">
                <a:solidFill>
                  <a:srgbClr val="232D34"/>
                </a:solidFill>
                <a:latin typeface="Aptos"/>
              </a:defRPr>
            </a:pPr>
            <a:r>
              <a:t>I am comfortable working hybrid and can attend the office when collaboration, workshops, or team activities benefit from face-to-face interaction.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080760" y="2971800"/>
            <a:ext cx="5212080" cy="1234440"/>
          </a:xfrm>
          <a:prstGeom prst="roundRect">
            <a:avLst/>
          </a:prstGeom>
          <a:solidFill>
            <a:srgbClr val="EFF8F6"/>
          </a:solidFill>
          <a:ln>
            <a:solidFill>
              <a:srgbClr val="CDE1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0F2A3D"/>
                </a:solidFill>
                <a:latin typeface="Aptos Display"/>
              </a:defRPr>
            </a:pPr>
            <a:r>
              <a:t>When I Encounter a Blocker</a:t>
            </a:r>
          </a:p>
          <a:p>
            <a:pPr>
              <a:spcBef>
                <a:spcPts val="600"/>
              </a:spcBef>
              <a:defRPr sz="1250">
                <a:solidFill>
                  <a:srgbClr val="232D34"/>
                </a:solidFill>
                <a:latin typeface="Aptos"/>
              </a:defRPr>
            </a:pPr>
            <a:r>
              <a:t>If I cannot complete a task because of infrastructure, network, dependency, access, or integration issues, I identify the blocker, communicate it early, seek the right support, and work on an alternative or next step where possible.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4434840"/>
            <a:ext cx="10607040" cy="1143000"/>
          </a:xfrm>
          <a:prstGeom prst="roundRect">
            <a:avLst/>
          </a:prstGeom>
          <a:solidFill>
            <a:srgbClr val="F6FAFC"/>
          </a:solidFill>
          <a:ln>
            <a:solidFill>
              <a:srgbClr val="CDE1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0F2A3D"/>
                </a:solidFill>
                <a:latin typeface="Aptos Display"/>
              </a:defRPr>
            </a:pPr>
            <a:r>
              <a:t>Learning From Challenges</a:t>
            </a:r>
          </a:p>
          <a:p>
            <a:pPr>
              <a:spcBef>
                <a:spcPts val="600"/>
              </a:spcBef>
              <a:defRPr sz="1250">
                <a:solidFill>
                  <a:srgbClr val="232D34"/>
                </a:solidFill>
                <a:latin typeface="Aptos"/>
              </a:defRPr>
            </a:pPr>
            <a:r>
              <a:t>I treat negative situations as learning experiences—reflecting on what happened, identifying what I can improve, and using those insights to perform better moving forward.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94360" y="6455664"/>
            <a:ext cx="10972800" cy="10972"/>
          </a:xfrm>
          <a:prstGeom prst="rect">
            <a:avLst/>
          </a:prstGeom>
          <a:solidFill>
            <a:srgbClr val="6674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" y="6510528"/>
            <a:ext cx="4572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6747C"/>
                </a:solidFill>
                <a:latin typeface="Aptos"/>
              </a:defRPr>
            </a:pPr>
            <a:r>
              <a:t>Emma Fabella  |  QIAGEN Interview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064240" y="6492240"/>
            <a:ext cx="502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66747C"/>
                </a:solidFill>
                <a:latin typeface="Aptos"/>
              </a:defRPr>
            </a:pPr>
            <a: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11480"/>
            <a:ext cx="1078992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22A3A"/>
                </a:solidFill>
                <a:latin typeface="Aptos"/>
              </a:defRPr>
            </a:pPr>
            <a:r>
              <a:t>Sample Portfolio — Digital Customer Ecosystem</a:t>
            </a:r>
          </a:p>
        </p:txBody>
      </p:sp>
      <p:sp>
        <p:nvSpPr>
          <p:cNvPr id="3b" name="TextBox 2b"/>
          <p:cNvSpPr txBox="1"/>
          <p:nvPr/>
        </p:nvSpPr>
        <p:spPr>
          <a:xfrm>
            <a:off x="9601200" y="411480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007E8C"/>
                </a:solidFill>
                <a:latin typeface="Aptos"/>
              </a:defRPr>
            </a:pPr>
            <a:r>
              <a:t>PORTFOLIO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1120140"/>
            <a:ext cx="104241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F6970"/>
                </a:solidFill>
                <a:latin typeface="Aptos"/>
              </a:defRPr>
            </a:pPr>
            <a:r>
              <a:t>A working sample demonstrating architecture, application design, and a customer-facing implementation</a:t>
            </a:r>
          </a:p>
        </p:txBody>
      </p:sp>
      <p:pic>
        <p:nvPicPr>
          <p:cNvPr id="5" name="Picture 4" descr="0961cf2a-eedf-4c52-91f9-901d1835f5d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417320"/>
            <a:ext cx="6629400" cy="3554591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7543800" y="1417320"/>
            <a:ext cx="3794760" cy="4526280"/>
          </a:xfrm>
          <a:prstGeom prst="roundRect">
            <a:avLst/>
          </a:prstGeom>
          <a:solidFill>
            <a:srgbClr val="EFF8F6"/>
          </a:solidFill>
          <a:ln>
            <a:solidFill>
              <a:srgbClr val="CDE1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0F2A3D"/>
                </a:solidFill>
                <a:latin typeface="Aptos Display"/>
              </a:defRPr>
            </a:pPr>
            <a:r>
              <a:t>Digital Customer Ecosystem (DCEP)</a:t>
            </a:r>
          </a:p>
          <a:p>
            <a:pPr>
              <a:spcBef>
                <a:spcPts val="500"/>
              </a:spcBef>
              <a:defRPr sz="1150">
                <a:solidFill>
                  <a:srgbClr val="232D34"/>
                </a:solidFill>
                <a:latin typeface="Aptos"/>
              </a:defRPr>
            </a:pPr>
            <a:r>
              <a:t>• Angular customer-facing application</a:t>
            </a:r>
          </a:p>
          <a:p>
            <a:pPr>
              <a:spcBef>
                <a:spcPts val="500"/>
              </a:spcBef>
              <a:defRPr sz="1150">
                <a:solidFill>
                  <a:srgbClr val="232D34"/>
                </a:solidFill>
                <a:latin typeface="Aptos"/>
              </a:defRPr>
            </a:pPr>
            <a:r>
              <a:t>• Java / Spring Boot microservices</a:t>
            </a:r>
          </a:p>
          <a:p>
            <a:pPr>
              <a:spcBef>
                <a:spcPts val="500"/>
              </a:spcBef>
              <a:defRPr sz="1150">
                <a:solidFill>
                  <a:srgbClr val="232D34"/>
                </a:solidFill>
                <a:latin typeface="Aptos"/>
              </a:defRPr>
            </a:pPr>
            <a:r>
              <a:t>• REST APIs and service boundaries</a:t>
            </a:r>
          </a:p>
          <a:p>
            <a:pPr>
              <a:spcBef>
                <a:spcPts val="500"/>
              </a:spcBef>
              <a:defRPr sz="1150">
                <a:solidFill>
                  <a:srgbClr val="232D34"/>
                </a:solidFill>
                <a:latin typeface="Aptos"/>
              </a:defRPr>
            </a:pPr>
            <a:r>
              <a:t>• Customer, product, search, cart, order, payment and digital-service capabilities</a:t>
            </a:r>
          </a:p>
          <a:p>
            <a:pPr>
              <a:spcBef>
                <a:spcPts val="500"/>
              </a:spcBef>
              <a:defRPr sz="1150">
                <a:solidFill>
                  <a:srgbClr val="232D34"/>
                </a:solidFill>
                <a:latin typeface="Aptos"/>
              </a:defRPr>
            </a:pPr>
            <a:r>
              <a:t>• Azure-oriented cloud and DevOps target architecture</a:t>
            </a:r>
          </a:p>
          <a:p>
            <a:pPr>
              <a:spcBef>
                <a:spcPts val="500"/>
              </a:spcBef>
              <a:defRPr sz="1150">
                <a:solidFill>
                  <a:srgbClr val="232D34"/>
                </a:solidFill>
                <a:latin typeface="Aptos"/>
              </a:defRPr>
            </a:pPr>
            <a:r>
              <a:t>• Architecture documentation covering business, application, data, technology, integration, security, DevOps and roadmap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053328"/>
            <a:ext cx="106070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286FB4"/>
                </a:solidFill>
                <a:latin typeface="Aptos"/>
              </a:defRPr>
            </a:pPr>
            <a:r>
              <a:t>Portfolio: github.com/emmafabella1/digital-customer-ecosystem-platform  |  Demo: 46.250.226.123:4200</a:t>
            </a:r>
          </a:p>
        </p:txBody>
      </p:sp>
      <p:sp>
        <p:nvSpPr>
          <p:cNvPr id="8" name="Rectangle 7"/>
          <p:cNvSpPr/>
          <p:nvPr/>
        </p:nvSpPr>
        <p:spPr>
          <a:xfrm>
            <a:off x="594360" y="6455664"/>
            <a:ext cx="10972800" cy="10972"/>
          </a:xfrm>
          <a:prstGeom prst="rect">
            <a:avLst/>
          </a:prstGeom>
          <a:solidFill>
            <a:srgbClr val="6674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6510528"/>
            <a:ext cx="4572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6747C"/>
                </a:solidFill>
                <a:latin typeface="Aptos"/>
              </a:defRPr>
            </a:pPr>
            <a:r>
              <a:t>Emma Fabella  |  QIAGEN Interview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64240" y="6492240"/>
            <a:ext cx="502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66747C"/>
                </a:solidFill>
                <a:latin typeface="Aptos"/>
              </a:defRPr>
            </a:pPr>
            <a: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d113e3c-4d7d-4889-acee-bc6c18b31e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4" name="Rectangle 13"/>
          <p:cNvSpPr/>
          <p:nvPr/>
        </p:nvSpPr>
        <p:spPr>
          <a:xfrm>
            <a:off x="8732520" y="1417320"/>
            <a:ext cx="2423160" cy="2313817"/>
          </a:xfrm>
          <a:prstGeom prst="rect">
            <a:avLst/>
          </a:prstGeom>
          <a:noFill/>
          <a:ln w="15240"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713232"/>
            <a:ext cx="3657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100" b="1">
                <a:solidFill>
                  <a:srgbClr val="FFFFFF"/>
                </a:solidFill>
                <a:latin typeface="Aptos"/>
              </a:defRPr>
            </a:pPr>
            <a:r>
              <a:t>Why Me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00200"/>
            <a:ext cx="10698480" cy="3313240"/>
          </a:xfrm>
          <a:prstGeom prst="roundRect">
            <a:avLst/>
          </a:prstGeom>
          <a:solidFill>
            <a:srgbClr val="1C3A47"/>
          </a:solidFill>
          <a:ln>
            <a:solidFill>
              <a:srgbClr val="375E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2011680"/>
            <a:ext cx="722376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900" b="0">
                <a:solidFill>
                  <a:srgbClr val="FFFFFF"/>
                </a:solidFill>
                <a:latin typeface="Aptos"/>
              </a:defRPr>
            </a:pPr>
            <a:r>
              <a:t>My journey as a working student, honor student, academic awardee, Computer Science graduate, researcher, software engineer, technical leader, and lifelong learner has been guided by a simple belief:</a:t>
            </a:r>
            <a:br/>
            <a:br/>
            <a:r>
              <a:t>Technology should create meaningful value for people.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" y="5074920"/>
            <a:ext cx="101498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CDEFE6"/>
                </a:solidFill>
                <a:latin typeface="Aptos"/>
              </a:defRPr>
            </a:pPr>
            <a:r>
              <a:t>That is why QIAGEN’s mission resonates with me — and why I would be excited to contribute to an organisation dedicated to making improvements in life possible.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60520" y="5897880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1">
                <a:solidFill>
                  <a:srgbClr val="FFFFFF"/>
                </a:solidFill>
                <a:latin typeface="Aptos"/>
              </a:defRPr>
            </a:pPr>
            <a:r>
              <a:t>THANK YOU  •  QUESTIONS &amp; DISCUSSION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594360" y="6455664"/>
            <a:ext cx="10972800" cy="10972"/>
          </a:xfrm>
          <a:prstGeom prst="rect">
            <a:avLst/>
          </a:prstGeom>
          <a:solidFill>
            <a:srgbClr val="DCE6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6510528"/>
            <a:ext cx="4572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DCE6E8"/>
                </a:solidFill>
                <a:latin typeface="Aptos"/>
              </a:defRPr>
            </a:pPr>
            <a:r>
              <a:t>Emma Fabella  |  QIAGEN Interview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64240" y="6492240"/>
            <a:ext cx="502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DCE6E8"/>
                </a:solidFill>
                <a:latin typeface="Aptos"/>
              </a:defRPr>
            </a:pPr>
            <a:r>
              <a:t>12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3931920"/>
            <a:ext cx="7132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6FB7E0"/>
                </a:solidFill>
                <a:latin typeface="Aptos"/>
              </a:rPr>
              <a:t>DISCIPLINE OUTSIDE OF WORK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4251960"/>
            <a:ext cx="7132320" cy="640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>
              <a:defRPr sz="1150">
                <a:solidFill>
                  <a:srgbClr val="DCE6E8"/>
                </a:solidFill>
                <a:latin typeface="Aptos"/>
              </a:defRPr>
            </a:pPr>
            <a:r>
              <a:rPr sz="1150">
                <a:solidFill>
                  <a:srgbClr val="DCE6E8"/>
                </a:solidFill>
                <a:latin typeface="Aptos"/>
              </a:rPr>
              <a:t>I bring the same discipline to how I take care of myself: regular gym training, spa and sauna recovery, and consistent dental care. Looking after myself takes real, everyday effort — the same effort and consistency I bring to my work.</a:t>
            </a:r>
          </a:p>
        </p:txBody>
      </p:sp>
      <p:pic>
        <p:nvPicPr>
          <p:cNvPr id="13" name="Picture 12" descr="emm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32520" y="1417320"/>
            <a:ext cx="2423160" cy="2313817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Emma Fabella — QIAGEN Interview Presentation</dc:title>
  <dc:subject>Story-driven executive interview presentation</dc:subject>
  <dc:creator>Emma Fabella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